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bc99fa863ee4bc5" /><Relationship Type="http://schemas.openxmlformats.org/package/2006/relationships/metadata/core-properties" Target="/docProps/core.xml" Id="R4d0905ac361147f9" /><Relationship Type="http://schemas.openxmlformats.org/officeDocument/2006/relationships/extended-properties" Target="/docProps/app.xml" Id="Ra2fcb661bd1c4050" /><Relationship Type="http://schemas.openxmlformats.org/officeDocument/2006/relationships/custom-properties" Target="/docProps/custom.xml" Id="R1c284d05a8ac403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70ef3762ecf4ee7"/>
  </p:notesMasterIdLst>
  <p:sldIdLst>
    <p:sldId id="256" r:id="R409fc17079a9493c"/>
    <p:sldId id="257" r:id="R639a4c20258e4821"/>
    <p:sldId id="258" r:id="Ra69e5cc5b32f4d7f"/>
    <p:sldId id="259" r:id="R864c7368c0244ffd"/>
    <p:sldId id="260" r:id="R0467ad16718c4751"/>
    <p:sldId id="261" r:id="Rb1615e6be9ae457c"/>
    <p:sldId id="262" r:id="Recac2bd94dd04070"/>
    <p:sldId id="263" r:id="R4dc02a60ee894bf4"/>
    <p:sldId id="264" r:id="R98c3f709e52947c5"/>
    <p:sldId id="265" r:id="R5414298afedd4363"/>
    <p:sldId id="266" r:id="R4f8531115a984dbd"/>
    <p:sldId id="267" r:id="R838e8de0b1bb4e32"/>
    <p:sldId id="268" r:id="Rd81b5c611ade4a9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09fc17079a9493c" /><Relationship Type="http://schemas.openxmlformats.org/officeDocument/2006/relationships/notesMaster" Target="/ppt/notesMasters/notesMaster1.xml" Id="R770ef3762ecf4ee7" /><Relationship Type="http://schemas.openxmlformats.org/officeDocument/2006/relationships/slide" Target="/ppt/slides/slide2.xml" Id="R639a4c20258e4821" /><Relationship Type="http://schemas.openxmlformats.org/officeDocument/2006/relationships/slide" Target="/ppt/slides/slide3.xml" Id="Ra69e5cc5b32f4d7f" /><Relationship Type="http://schemas.openxmlformats.org/officeDocument/2006/relationships/slide" Target="/ppt/slides/slide4.xml" Id="R864c7368c0244ffd" /><Relationship Type="http://schemas.openxmlformats.org/officeDocument/2006/relationships/slide" Target="/ppt/slides/slide5.xml" Id="R0467ad16718c4751" /><Relationship Type="http://schemas.openxmlformats.org/officeDocument/2006/relationships/slide" Target="/ppt/slides/slide6.xml" Id="Rb1615e6be9ae457c" /><Relationship Type="http://schemas.openxmlformats.org/officeDocument/2006/relationships/slide" Target="/ppt/slides/slide7.xml" Id="Recac2bd94dd04070" /><Relationship Type="http://schemas.openxmlformats.org/officeDocument/2006/relationships/slide" Target="/ppt/slides/slide8.xml" Id="R4dc02a60ee894bf4" /><Relationship Type="http://schemas.openxmlformats.org/officeDocument/2006/relationships/slide" Target="/ppt/slides/slide9.xml" Id="R98c3f709e52947c5" /><Relationship Type="http://schemas.openxmlformats.org/officeDocument/2006/relationships/slide" Target="/ppt/slides/slide10.xml" Id="R5414298afedd4363" /><Relationship Type="http://schemas.openxmlformats.org/officeDocument/2006/relationships/slide" Target="/ppt/slides/slide11.xml" Id="R4f8531115a984dbd" /><Relationship Type="http://schemas.openxmlformats.org/officeDocument/2006/relationships/slide" Target="/ppt/slides/slide12.xml" Id="R838e8de0b1bb4e32" /><Relationship Type="http://schemas.openxmlformats.org/officeDocument/2006/relationships/slide" Target="/ppt/slides/slide13.xml" Id="Rd81b5c611ade4a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174b28a21694d0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3bb3469e1b24330" /><Relationship Type="http://schemas.openxmlformats.org/officeDocument/2006/relationships/slide" Target="/ppt/slides/slide1.xml" Id="Rc0a941d1f6454f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dce7bed78aa42eb" /><Relationship Type="http://schemas.openxmlformats.org/officeDocument/2006/relationships/slide" Target="/ppt/slides/slide2.xml" Id="Rd8eb6c5260404c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33b88ac88104c7e" /><Relationship Type="http://schemas.openxmlformats.org/officeDocument/2006/relationships/slide" Target="/ppt/slides/slide3.xml" Id="R6ea336e14e1347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WasteWise identifies waste from a photo and provides recycling, recovery and disposal guidance.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scale of the waste problem and why current guidance fails people.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WasteWise solves the problem by letting anyone photograph waste and get expert-level guidance instantly.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94bd98b594f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9b2efa8e14b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6966423c649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554e4ecfd4f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0de829db6464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5e3453b35e84e9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d994dd7194055" /><Relationship Type="http://schemas.openxmlformats.org/officeDocument/2006/relationships/notesSlide" Target="/ppt/notesSlides/notesSlide1.xml" Id="Rd789adb3a40344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890adcc9e4cc0" /><Relationship Type="http://schemas.openxmlformats.org/officeDocument/2006/relationships/notesSlide" Target="/ppt/notesSlides/notesSlide2.xml" Id="R2b042d82b62e48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4e0a09d4742e8" /><Relationship Type="http://schemas.openxmlformats.org/officeDocument/2006/relationships/notesSlide" Target="/ppt/notesSlides/notesSlide3.xml" Id="Rae387c17da4e4e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7fdc53ef343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85b355a2b4d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c9c461eaf46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8c9d10fb34f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037d2f37c47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a76b5ddd34d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ed131565c4d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dea3fe9b648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d7991a0f64d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7d9cea23443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00" name="Logo"/>
          <p:cNvSpPr txBox="1"/>
          <p:nvPr/>
        </p:nvSpPr>
        <p:spPr>
          <a:xfrm xmlns:a="http://schemas.openxmlformats.org/drawingml/2006/main">
            <a:off x="720000" y="1080000"/>
            <a:ext cx="10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200" b="1">
                <a:solidFill>
                  <a:srgbClr val="00AAFF"/>
                </a:solidFill>
              </a:rPr>
              <a:t>♻ WasteWise</a:t>
            </a:r>
          </a:p>
        </p:txBody>
      </p:sp>
      <p:sp>
        <p:nvSpPr>
          <p:cNvPr id="100001" name="Tagline"/>
          <p:cNvSpPr txBox="1"/>
          <p:nvPr/>
        </p:nvSpPr>
        <p:spPr>
          <a:xfrm xmlns:a="http://schemas.openxmlformats.org/drawingml/2006/main">
            <a:off x="720000" y="2700000"/>
            <a:ext cx="104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CCCCCC"/>
                </a:solidFill>
              </a:rPr>
              <a:t>Waste in. Smart decisions out.</a:t>
            </a:r>
          </a:p>
        </p:txBody>
      </p:sp>
      <p:sp>
        <p:nvSpPr>
          <p:cNvPr id="100002" name="Sub"/>
          <p:cNvSpPr txBox="1"/>
          <p:nvPr/>
        </p:nvSpPr>
        <p:spPr>
          <a:xfrm xmlns:a="http://schemas.openxmlformats.org/drawingml/2006/main">
            <a:off x="720000" y="3780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526170"/>
                </a:solidFill>
              </a:rPr>
              <a:t>AI-Powered Waste Intelligence  |  IBM Bob 2.0 Hackathon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03" name="Title"/>
          <p:cNvSpPr txBox="1"/>
          <p:nvPr/>
        </p:nvSpPr>
        <p:spPr>
          <a:xfrm xmlns:a="http://schemas.openxmlformats.org/drawingml/2006/main">
            <a:off x="540000" y="288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00AAFF"/>
                </a:solidFill>
              </a:rPr>
              <a:t>The Problem with Waste Today</a:t>
            </a:r>
          </a:p>
        </p:txBody>
      </p:sp>
      <p:sp>
        <p:nvSpPr>
          <p:cNvPr id="100004" name="Body"/>
          <p:cNvSpPr txBox="1"/>
          <p:nvPr/>
        </p:nvSpPr>
        <p:spPr>
          <a:xfrm xmlns:a="http://schemas.openxmlformats.org/drawingml/2006/main">
            <a:off x="540000" y="1152000"/>
            <a:ext cx="1080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• Most people don't know how to correctly sort or dispose of waste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• Wrong disposal contaminates recycling streams and increases landfill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• Existing guidance is hard to find and not item-specific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• Electronic waste and batteries are regularly dumped incorrectly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• Result: Environmental damage, wasted resources, missed recovery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05" name="Title"/>
          <p:cNvSpPr txBox="1"/>
          <p:nvPr/>
        </p:nvSpPr>
        <p:spPr>
          <a:xfrm xmlns:a="http://schemas.openxmlformats.org/drawingml/2006/main">
            <a:off x="540000" y="288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00AAFF"/>
                </a:solidFill>
              </a:rPr>
              <a:t>Our Solution — WasteWise</a:t>
            </a:r>
          </a:p>
        </p:txBody>
      </p:sp>
      <p:sp>
        <p:nvSpPr>
          <p:cNvPr id="100006" name="Body"/>
          <p:cNvSpPr txBox="1"/>
          <p:nvPr/>
        </p:nvSpPr>
        <p:spPr>
          <a:xfrm xmlns:a="http://schemas.openxmlformats.org/drawingml/2006/main">
            <a:off x="540000" y="1152000"/>
            <a:ext cx="1080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• Upload a photo of any waste item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• AI instantly identifies what it is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• Receive detailed guidance in under 20 seconds: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     — Material composition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     — Recyclability and recovery options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     — What it can become after recycling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     — Exact disposal instructions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     — Safety and environmental warnings</a:t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CCCCC"/>
                </a:solidFill>
              </a:rPr>
              <a:t>• Works fully offline — no internet, no account, no cost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07" name="TextBox 1"/>
          <p:cNvSpPr txBox="1"/>
          <p:nvPr/>
        </p:nvSpPr>
        <p:spPr>
          <a:xfrm xmlns:a="http://schemas.openxmlformats.org/drawingml/2006/main">
            <a:off x="720000" y="288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How It Works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720000" y="1080000"/>
            <a:ext cx="18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1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Upload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Photo of waste item taken or uploaded</a:t>
            </a:r>
          </a:p>
        </p:txBody>
      </p:sp>
      <p:sp>
        <p:nvSpPr>
          <p:cNvPr id="100009" name="TextBox 3"/>
          <p:cNvSpPr txBox="1"/>
          <p:nvPr/>
        </p:nvSpPr>
        <p:spPr>
          <a:xfrm xmlns:a="http://schemas.openxmlformats.org/drawingml/2006/main">
            <a:off x="2880000" y="1080000"/>
            <a:ext cx="18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2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Save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Stored in /uploads folder</a:t>
            </a:r>
          </a:p>
        </p:txBody>
      </p:sp>
      <p:sp>
        <p:nvSpPr>
          <p:cNvPr id="100010" name="TextBox 4"/>
          <p:cNvSpPr txBox="1"/>
          <p:nvPr/>
        </p:nvSpPr>
        <p:spPr>
          <a:xfrm xmlns:a="http://schemas.openxmlformats.org/drawingml/2006/main">
            <a:off x="5040000" y="1080000"/>
            <a:ext cx="18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3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Encode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Converted to base64 for local AI</a:t>
            </a:r>
          </a:p>
        </p:txBody>
      </p:sp>
      <p:sp>
        <p:nvSpPr>
          <p:cNvPr id="100011" name="TextBox 5"/>
          <p:cNvSpPr txBox="1"/>
          <p:nvPr/>
        </p:nvSpPr>
        <p:spPr>
          <a:xfrm xmlns:a="http://schemas.openxmlformats.org/drawingml/2006/main">
            <a:off x="7200000" y="1080000"/>
            <a:ext cx="18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4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Analyse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Moondream vision model via Ollama</a:t>
            </a:r>
          </a:p>
        </p:txBody>
      </p:sp>
      <p:sp>
        <p:nvSpPr>
          <p:cNvPr id="100012" name="TextBox 6"/>
          <p:cNvSpPr txBox="1"/>
          <p:nvPr/>
        </p:nvSpPr>
        <p:spPr>
          <a:xfrm xmlns:a="http://schemas.openxmlformats.org/drawingml/2006/main">
            <a:off x="9360000" y="1080000"/>
            <a:ext cx="18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5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Results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5-tab breakdown delivered to browser</a:t>
            </a:r>
          </a:p>
        </p:txBody>
      </p:sp>
      <p:sp>
        <p:nvSpPr>
          <p:cNvPr id="100013" name="TextBox 7"/>
          <p:cNvSpPr txBox="1"/>
          <p:nvPr/>
        </p:nvSpPr>
        <p:spPr>
          <a:xfrm xmlns:a="http://schemas.openxmlformats.org/drawingml/2006/main">
            <a:off x="2520000" y="1548000"/>
            <a:ext cx="3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→</a:t>
            </a:r>
          </a:p>
        </p:txBody>
      </p:sp>
      <p:sp>
        <p:nvSpPr>
          <p:cNvPr id="100014" name="TextBox 8"/>
          <p:cNvSpPr txBox="1"/>
          <p:nvPr/>
        </p:nvSpPr>
        <p:spPr>
          <a:xfrm xmlns:a="http://schemas.openxmlformats.org/drawingml/2006/main">
            <a:off x="4680000" y="1548000"/>
            <a:ext cx="3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→</a:t>
            </a:r>
          </a:p>
        </p:txBody>
      </p:sp>
      <p:sp>
        <p:nvSpPr>
          <p:cNvPr id="100015" name="TextBox 9"/>
          <p:cNvSpPr txBox="1"/>
          <p:nvPr/>
        </p:nvSpPr>
        <p:spPr>
          <a:xfrm xmlns:a="http://schemas.openxmlformats.org/drawingml/2006/main">
            <a:off x="6840000" y="1548000"/>
            <a:ext cx="3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→</a:t>
            </a:r>
          </a:p>
        </p:txBody>
      </p:sp>
      <p:sp>
        <p:nvSpPr>
          <p:cNvPr id="100016" name="TextBox 10"/>
          <p:cNvSpPr txBox="1"/>
          <p:nvPr/>
        </p:nvSpPr>
        <p:spPr>
          <a:xfrm xmlns:a="http://schemas.openxmlformats.org/drawingml/2006/main">
            <a:off x="9000000" y="1548000"/>
            <a:ext cx="3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→</a:t>
            </a:r>
          </a:p>
        </p:txBody>
      </p:sp>
      <p:sp>
        <p:nvSpPr>
          <p:cNvPr id="100017" name="TextBox 11"/>
          <p:cNvSpPr txBox="1"/>
          <p:nvPr/>
        </p:nvSpPr>
        <p:spPr>
          <a:xfrm xmlns:a="http://schemas.openxmlformats.org/drawingml/2006/main">
            <a:off x="720000" y="2880000"/>
            <a:ext cx="104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i="1">
                <a:solidFill>
                  <a:srgbClr val="526170"/>
                </a:solidFill>
              </a:rPr>
              <a:t>No cloud. No API keys. Everything runs on your machine.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720000" y="288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Technology Stack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720000" y="1080000"/>
            <a:ext cx="23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Frontend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HTML5 + CSS3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JavaScript (Vanilla)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Dark theme UI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Scan animation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5-tab result panel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3420000" y="1080000"/>
            <a:ext cx="23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Backend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Python 3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Flask (web server)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Base64 encoding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File upload handling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JSON API responses</a:t>
            </a:r>
          </a:p>
        </p:txBody>
      </p:sp>
      <p:sp>
        <p:nvSpPr>
          <p:cNvPr id="100021" name="TextBox 4"/>
          <p:cNvSpPr txBox="1"/>
          <p:nvPr/>
        </p:nvSpPr>
        <p:spPr>
          <a:xfrm xmlns:a="http://schemas.openxmlformats.org/drawingml/2006/main">
            <a:off x="6120000" y="1080000"/>
            <a:ext cx="23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AI Engine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Ollama (local runtime)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Moondream vision model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Streaming inference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Keyword profile matching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8 waste categories</a:t>
            </a:r>
          </a:p>
        </p:txBody>
      </p:sp>
      <p:sp>
        <p:nvSpPr>
          <p:cNvPr id="100022" name="TextBox 5"/>
          <p:cNvSpPr txBox="1"/>
          <p:nvPr/>
        </p:nvSpPr>
        <p:spPr>
          <a:xfrm xmlns:a="http://schemas.openxmlformats.org/drawingml/2006/main">
            <a:off x="8820000" y="1080000"/>
            <a:ext cx="23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Dev Tooling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IBM Bob 2.0 (IDE)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Code generation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File editing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Debugging assistant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Presentation builder</a:t>
            </a:r>
          </a:p>
        </p:txBody>
      </p:sp>
      <p:sp>
        <p:nvSpPr>
          <p:cNvPr id="100023" name="TextBox 6"/>
          <p:cNvSpPr txBox="1"/>
          <p:nvPr/>
        </p:nvSpPr>
        <p:spPr>
          <a:xfrm xmlns:a="http://schemas.openxmlformats.org/drawingml/2006/main">
            <a:off x="720000" y="3240000"/>
            <a:ext cx="104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i="1">
                <a:solidFill>
                  <a:srgbClr val="526170"/>
                </a:solidFill>
              </a:rPr>
              <a:t>100% offline  |  Zero cost  |  No cloud dependencies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720000" y="288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Project File Structure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720000" y="1080000"/>
            <a:ext cx="25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5070B"/>
                </a:solidFill>
              </a:rPr>
              <a:t>File / Folder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3420000" y="1080000"/>
            <a:ext cx="1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5070B"/>
                </a:solidFill>
              </a:rPr>
              <a:t>Status</a:t>
            </a:r>
          </a:p>
        </p:txBody>
      </p:sp>
      <p:sp>
        <p:nvSpPr>
          <p:cNvPr id="100027" name="TextBox 4"/>
          <p:cNvSpPr txBox="1"/>
          <p:nvPr/>
        </p:nvSpPr>
        <p:spPr>
          <a:xfrm xmlns:a="http://schemas.openxmlformats.org/drawingml/2006/main">
            <a:off x="5040000" y="1080000"/>
            <a:ext cx="61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5070B"/>
                </a:solidFill>
              </a:rPr>
              <a:t>Purpose</a:t>
            </a:r>
          </a:p>
        </p:txBody>
      </p:sp>
      <p:sp>
        <p:nvSpPr>
          <p:cNvPr id="100028" name="TextBox 5"/>
          <p:cNvSpPr txBox="1"/>
          <p:nvPr/>
        </p:nvSpPr>
        <p:spPr>
          <a:xfrm xmlns:a="http://schemas.openxmlformats.org/drawingml/2006/main">
            <a:off x="720000" y="1440000"/>
            <a:ext cx="25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app.py</a:t>
            </a:r>
          </a:p>
        </p:txBody>
      </p:sp>
      <p:sp>
        <p:nvSpPr>
          <p:cNvPr id="100029" name="TextBox 6"/>
          <p:cNvSpPr txBox="1"/>
          <p:nvPr/>
        </p:nvSpPr>
        <p:spPr>
          <a:xfrm xmlns:a="http://schemas.openxmlformats.org/drawingml/2006/main">
            <a:off x="3420000" y="1440000"/>
            <a:ext cx="144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E1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90EE90"/>
                </a:solidFill>
              </a:rPr>
              <a:t>Modified</a:t>
            </a:r>
          </a:p>
        </p:txBody>
      </p:sp>
      <p:sp>
        <p:nvSpPr>
          <p:cNvPr id="100030" name="TextBox 7"/>
          <p:cNvSpPr txBox="1"/>
          <p:nvPr/>
        </p:nvSpPr>
        <p:spPr>
          <a:xfrm xmlns:a="http://schemas.openxmlformats.org/drawingml/2006/main">
            <a:off x="5040000" y="1440000"/>
            <a:ext cx="61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Flask server — upload endpoint, calls AI, returns JSON</a:t>
            </a:r>
          </a:p>
        </p:txBody>
      </p:sp>
      <p:sp>
        <p:nvSpPr>
          <p:cNvPr id="100031" name="TextBox 8"/>
          <p:cNvSpPr txBox="1"/>
          <p:nvPr/>
        </p:nvSpPr>
        <p:spPr>
          <a:xfrm xmlns:a="http://schemas.openxmlformats.org/drawingml/2006/main">
            <a:off x="720000" y="1764000"/>
            <a:ext cx="25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ai_analyzer.py</a:t>
            </a:r>
          </a:p>
        </p:txBody>
      </p:sp>
      <p:sp>
        <p:nvSpPr>
          <p:cNvPr id="100032" name="TextBox 9"/>
          <p:cNvSpPr txBox="1"/>
          <p:nvPr/>
        </p:nvSpPr>
        <p:spPr>
          <a:xfrm xmlns:a="http://schemas.openxmlformats.org/drawingml/2006/main">
            <a:off x="3420000" y="1764000"/>
            <a:ext cx="144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05070B"/>
                </a:solidFill>
              </a:rPr>
              <a:t>New</a:t>
            </a:r>
          </a:p>
        </p:txBody>
      </p:sp>
      <p:sp>
        <p:nvSpPr>
          <p:cNvPr id="100033" name="TextBox 10"/>
          <p:cNvSpPr txBox="1"/>
          <p:nvPr/>
        </p:nvSpPr>
        <p:spPr>
          <a:xfrm xmlns:a="http://schemas.openxmlformats.org/drawingml/2006/main">
            <a:off x="5040000" y="1764000"/>
            <a:ext cx="61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AI engine — Ollama streaming, base64, 8 waste profiles</a:t>
            </a:r>
          </a:p>
        </p:txBody>
      </p:sp>
      <p:sp>
        <p:nvSpPr>
          <p:cNvPr id="100034" name="TextBox 11"/>
          <p:cNvSpPr txBox="1"/>
          <p:nvPr/>
        </p:nvSpPr>
        <p:spPr>
          <a:xfrm xmlns:a="http://schemas.openxmlformats.org/drawingml/2006/main">
            <a:off x="720000" y="2088000"/>
            <a:ext cx="25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static/script.js</a:t>
            </a:r>
          </a:p>
        </p:txBody>
      </p:sp>
      <p:sp>
        <p:nvSpPr>
          <p:cNvPr id="100035" name="TextBox 12"/>
          <p:cNvSpPr txBox="1"/>
          <p:nvPr/>
        </p:nvSpPr>
        <p:spPr>
          <a:xfrm xmlns:a="http://schemas.openxmlformats.org/drawingml/2006/main">
            <a:off x="3420000" y="2088000"/>
            <a:ext cx="144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E1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90EE90"/>
                </a:solidFill>
              </a:rPr>
              <a:t>Modified</a:t>
            </a:r>
          </a:p>
        </p:txBody>
      </p:sp>
      <p:sp>
        <p:nvSpPr>
          <p:cNvPr id="100036" name="TextBox 13"/>
          <p:cNvSpPr txBox="1"/>
          <p:nvPr/>
        </p:nvSpPr>
        <p:spPr>
          <a:xfrm xmlns:a="http://schemas.openxmlformats.org/drawingml/2006/main">
            <a:off x="5040000" y="2088000"/>
            <a:ext cx="61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Two-phase animation, async fetch, result renderer</a:t>
            </a:r>
          </a:p>
        </p:txBody>
      </p:sp>
      <p:sp>
        <p:nvSpPr>
          <p:cNvPr id="100037" name="TextBox 14"/>
          <p:cNvSpPr txBox="1"/>
          <p:nvPr/>
        </p:nvSpPr>
        <p:spPr>
          <a:xfrm xmlns:a="http://schemas.openxmlformats.org/drawingml/2006/main">
            <a:off x="720000" y="2412000"/>
            <a:ext cx="25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static/style.css</a:t>
            </a:r>
          </a:p>
        </p:txBody>
      </p:sp>
      <p:sp>
        <p:nvSpPr>
          <p:cNvPr id="100038" name="TextBox 15"/>
          <p:cNvSpPr txBox="1"/>
          <p:nvPr/>
        </p:nvSpPr>
        <p:spPr>
          <a:xfrm xmlns:a="http://schemas.openxmlformats.org/drawingml/2006/main">
            <a:off x="3420000" y="2412000"/>
            <a:ext cx="144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526170"/>
                </a:solidFill>
              </a:rPr>
              <a:t>Unchanged</a:t>
            </a:r>
          </a:p>
        </p:txBody>
      </p:sp>
      <p:sp>
        <p:nvSpPr>
          <p:cNvPr id="100039" name="TextBox 16"/>
          <p:cNvSpPr txBox="1"/>
          <p:nvPr/>
        </p:nvSpPr>
        <p:spPr>
          <a:xfrm xmlns:a="http://schemas.openxmlformats.org/drawingml/2006/main">
            <a:off x="5040000" y="2412000"/>
            <a:ext cx="61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Dark theme, scan animation styling, tab UI</a:t>
            </a:r>
          </a:p>
        </p:txBody>
      </p:sp>
      <p:sp>
        <p:nvSpPr>
          <p:cNvPr id="100040" name="TextBox 17"/>
          <p:cNvSpPr txBox="1"/>
          <p:nvPr/>
        </p:nvSpPr>
        <p:spPr>
          <a:xfrm xmlns:a="http://schemas.openxmlformats.org/drawingml/2006/main">
            <a:off x="720000" y="2736000"/>
            <a:ext cx="25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templates/index.html</a:t>
            </a:r>
          </a:p>
        </p:txBody>
      </p:sp>
      <p:sp>
        <p:nvSpPr>
          <p:cNvPr id="100041" name="TextBox 18"/>
          <p:cNvSpPr txBox="1"/>
          <p:nvPr/>
        </p:nvSpPr>
        <p:spPr>
          <a:xfrm xmlns:a="http://schemas.openxmlformats.org/drawingml/2006/main">
            <a:off x="3420000" y="2736000"/>
            <a:ext cx="144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526170"/>
                </a:solidFill>
              </a:rPr>
              <a:t>Unchanged</a:t>
            </a:r>
          </a:p>
        </p:txBody>
      </p:sp>
      <p:sp>
        <p:nvSpPr>
          <p:cNvPr id="100042" name="TextBox 19"/>
          <p:cNvSpPr txBox="1"/>
          <p:nvPr/>
        </p:nvSpPr>
        <p:spPr>
          <a:xfrm xmlns:a="http://schemas.openxmlformats.org/drawingml/2006/main">
            <a:off x="5040000" y="2736000"/>
            <a:ext cx="61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HTML template — all DOM IDs for JS hooks intact</a:t>
            </a:r>
          </a:p>
        </p:txBody>
      </p:sp>
      <p:sp>
        <p:nvSpPr>
          <p:cNvPr id="100043" name="TextBox 20"/>
          <p:cNvSpPr txBox="1"/>
          <p:nvPr/>
        </p:nvSpPr>
        <p:spPr>
          <a:xfrm xmlns:a="http://schemas.openxmlformats.org/drawingml/2006/main">
            <a:off x="720000" y="3060000"/>
            <a:ext cx="25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requirements.txt</a:t>
            </a:r>
          </a:p>
        </p:txBody>
      </p:sp>
      <p:sp>
        <p:nvSpPr>
          <p:cNvPr id="100044" name="TextBox 21"/>
          <p:cNvSpPr txBox="1"/>
          <p:nvPr/>
        </p:nvSpPr>
        <p:spPr>
          <a:xfrm xmlns:a="http://schemas.openxmlformats.org/drawingml/2006/main">
            <a:off x="3420000" y="3060000"/>
            <a:ext cx="144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05070B"/>
                </a:solidFill>
              </a:rPr>
              <a:t>New</a:t>
            </a:r>
          </a:p>
        </p:txBody>
      </p:sp>
      <p:sp>
        <p:nvSpPr>
          <p:cNvPr id="100045" name="TextBox 22"/>
          <p:cNvSpPr txBox="1"/>
          <p:nvPr/>
        </p:nvSpPr>
        <p:spPr>
          <a:xfrm xmlns:a="http://schemas.openxmlformats.org/drawingml/2006/main">
            <a:off x="5040000" y="3060000"/>
            <a:ext cx="612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Minimal deps: flask, requests — no heavy libraries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46" name="TextBox 1"/>
          <p:cNvSpPr txBox="1"/>
          <p:nvPr/>
        </p:nvSpPr>
        <p:spPr>
          <a:xfrm xmlns:a="http://schemas.openxmlformats.org/drawingml/2006/main">
            <a:off x="720000" y="288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AI Pipeline — Technical Detail</a:t>
            </a:r>
          </a:p>
        </p:txBody>
      </p:sp>
      <p:sp>
        <p:nvSpPr>
          <p:cNvPr id="100047" name="TextBox 2"/>
          <p:cNvSpPr txBox="1"/>
          <p:nvPr/>
        </p:nvSpPr>
        <p:spPr>
          <a:xfrm xmlns:a="http://schemas.openxmlformats.org/drawingml/2006/main">
            <a:off x="720000" y="1080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Step 1 — Image Encoding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The uploaded image is read from disk and encoded to base64 using Python's standard library. This embeds binary image data safely in a JSON payload sent to the Ollama API over localhost HTTP.</a:t>
            </a:r>
          </a:p>
        </p:txBody>
      </p:sp>
      <p:sp>
        <p:nvSpPr>
          <p:cNvPr id="100048" name="TextBox 3"/>
          <p:cNvSpPr txBox="1"/>
          <p:nvPr/>
        </p:nvSpPr>
        <p:spPr>
          <a:xfrm xmlns:a="http://schemas.openxmlformats.org/drawingml/2006/main">
            <a:off x="6120000" y="108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Step 2 — Vision Inference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Ollama serves Moondream (828 MB) on localhost:11434. The base64 image and structured prompt are POSTed with stream=true. Chunks stream as newline-delimited JSON until the done flag arrives.</a:t>
            </a:r>
          </a:p>
        </p:txBody>
      </p:sp>
      <p:sp>
        <p:nvSpPr>
          <p:cNvPr id="100049" name="TextBox 4"/>
          <p:cNvSpPr txBox="1"/>
          <p:nvPr/>
        </p:nvSpPr>
        <p:spPr>
          <a:xfrm xmlns:a="http://schemas.openxmlformats.org/drawingml/2006/main">
            <a:off x="720000" y="2520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Step 3 — Profile Matching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The raw AI text is lowercased and scanned for keywords across 8 category profiles. The highest-scoring match wins. If no keywords match, a neutral default profile guarantees a result.</a:t>
            </a:r>
          </a:p>
        </p:txBody>
      </p:sp>
      <p:sp>
        <p:nvSpPr>
          <p:cNvPr id="100050" name="TextBox 5"/>
          <p:cNvSpPr txBox="1"/>
          <p:nvPr/>
        </p:nvSpPr>
        <p:spPr>
          <a:xfrm xmlns:a="http://schemas.openxmlformats.org/drawingml/2006/main">
            <a:off x="6120000" y="252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Step 4 — JSON Response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The matched profile provides 5 fields: material, recyclability, reuse_ideas, disposal_instructions, warnings. Flask returns JSON; the browser renders each field into a tab with no page reload.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51" name="TextBox 1"/>
          <p:cNvSpPr txBox="1"/>
          <p:nvPr/>
        </p:nvSpPr>
        <p:spPr>
          <a:xfrm xmlns:a="http://schemas.openxmlformats.org/drawingml/2006/main">
            <a:off x="720000" y="288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8 Waste Categories Recognised</a:t>
            </a:r>
          </a:p>
        </p:txBody>
      </p:sp>
      <p:sp>
        <p:nvSpPr>
          <p:cNvPr id="100052" name="TextBox 2"/>
          <p:cNvSpPr txBox="1"/>
          <p:nvPr/>
        </p:nvSpPr>
        <p:spPr>
          <a:xfrm xmlns:a="http://schemas.openxmlformats.org/drawingml/2006/main">
            <a:off x="720000" y="1080000"/>
            <a:ext cx="1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5070B"/>
                </a:solidFill>
              </a:rPr>
              <a:t>Category</a:t>
            </a:r>
          </a:p>
        </p:txBody>
      </p:sp>
      <p:sp>
        <p:nvSpPr>
          <p:cNvPr id="100053" name="TextBox 3"/>
          <p:cNvSpPr txBox="1"/>
          <p:nvPr/>
        </p:nvSpPr>
        <p:spPr>
          <a:xfrm xmlns:a="http://schemas.openxmlformats.org/drawingml/2006/main">
            <a:off x="2700000" y="1080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5070B"/>
                </a:solidFill>
              </a:rPr>
              <a:t>Keywords</a:t>
            </a:r>
          </a:p>
        </p:txBody>
      </p:sp>
      <p:sp>
        <p:nvSpPr>
          <p:cNvPr id="100054" name="TextBox 4"/>
          <p:cNvSpPr txBox="1"/>
          <p:nvPr/>
        </p:nvSpPr>
        <p:spPr>
          <a:xfrm xmlns:a="http://schemas.openxmlformats.org/drawingml/2006/main">
            <a:off x="6120000" y="1080000"/>
            <a:ext cx="16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5070B"/>
                </a:solidFill>
              </a:rPr>
              <a:t>Recyclable?</a:t>
            </a:r>
          </a:p>
        </p:txBody>
      </p:sp>
      <p:sp>
        <p:nvSpPr>
          <p:cNvPr id="100055" name="TextBox 5"/>
          <p:cNvSpPr txBox="1"/>
          <p:nvPr/>
        </p:nvSpPr>
        <p:spPr>
          <a:xfrm xmlns:a="http://schemas.openxmlformats.org/drawingml/2006/main">
            <a:off x="7920000" y="1080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5070B"/>
                </a:solidFill>
              </a:rPr>
              <a:t>Key Disposal Note</a:t>
            </a:r>
          </a:p>
        </p:txBody>
      </p:sp>
      <p:sp>
        <p:nvSpPr>
          <p:cNvPr id="100056" name="TextBox 6"/>
          <p:cNvSpPr txBox="1"/>
          <p:nvPr/>
        </p:nvSpPr>
        <p:spPr>
          <a:xfrm xmlns:a="http://schemas.openxmlformats.org/drawingml/2006/main">
            <a:off x="720000" y="1422000"/>
            <a:ext cx="1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Plastic</a:t>
            </a:r>
          </a:p>
        </p:txBody>
      </p:sp>
      <p:sp>
        <p:nvSpPr>
          <p:cNvPr id="100057" name="TextBox 7"/>
          <p:cNvSpPr txBox="1"/>
          <p:nvPr/>
        </p:nvSpPr>
        <p:spPr>
          <a:xfrm xmlns:a="http://schemas.openxmlformats.org/drawingml/2006/main">
            <a:off x="2700000" y="1422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plastic, bottle, container, wrap</a:t>
            </a:r>
          </a:p>
        </p:txBody>
      </p:sp>
      <p:sp>
        <p:nvSpPr>
          <p:cNvPr id="100058" name="TextBox 8"/>
          <p:cNvSpPr txBox="1"/>
          <p:nvPr/>
        </p:nvSpPr>
        <p:spPr>
          <a:xfrm xmlns:a="http://schemas.openxmlformats.org/drawingml/2006/main">
            <a:off x="6120000" y="1422000"/>
            <a:ext cx="16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E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90EE90"/>
                </a:solidFill>
              </a:rPr>
              <a:t>Yes (1,2,5)</a:t>
            </a:r>
          </a:p>
        </p:txBody>
      </p:sp>
      <p:sp>
        <p:nvSpPr>
          <p:cNvPr id="100059" name="TextBox 9"/>
          <p:cNvSpPr txBox="1"/>
          <p:nvPr/>
        </p:nvSpPr>
        <p:spPr>
          <a:xfrm xmlns:a="http://schemas.openxmlformats.org/drawingml/2006/main">
            <a:off x="7920000" y="1422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Rinse, remove caps, check symbol</a:t>
            </a:r>
          </a:p>
        </p:txBody>
      </p:sp>
      <p:sp>
        <p:nvSpPr>
          <p:cNvPr id="100060" name="TextBox 10"/>
          <p:cNvSpPr txBox="1"/>
          <p:nvPr/>
        </p:nvSpPr>
        <p:spPr>
          <a:xfrm xmlns:a="http://schemas.openxmlformats.org/drawingml/2006/main">
            <a:off x="720000" y="1728000"/>
            <a:ext cx="1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Glass</a:t>
            </a:r>
          </a:p>
        </p:txBody>
      </p:sp>
      <p:sp>
        <p:nvSpPr>
          <p:cNvPr id="100061" name="TextBox 11"/>
          <p:cNvSpPr txBox="1"/>
          <p:nvPr/>
        </p:nvSpPr>
        <p:spPr>
          <a:xfrm xmlns:a="http://schemas.openxmlformats.org/drawingml/2006/main">
            <a:off x="2700000" y="1728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glass, jar, bottle, window</a:t>
            </a:r>
          </a:p>
        </p:txBody>
      </p:sp>
      <p:sp>
        <p:nvSpPr>
          <p:cNvPr id="100062" name="TextBox 12"/>
          <p:cNvSpPr txBox="1"/>
          <p:nvPr/>
        </p:nvSpPr>
        <p:spPr>
          <a:xfrm xmlns:a="http://schemas.openxmlformats.org/drawingml/2006/main">
            <a:off x="6120000" y="1728000"/>
            <a:ext cx="16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E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90EE90"/>
                </a:solidFill>
              </a:rPr>
              <a:t>Yes</a:t>
            </a:r>
          </a:p>
        </p:txBody>
      </p:sp>
      <p:sp>
        <p:nvSpPr>
          <p:cNvPr id="100063" name="TextBox 13"/>
          <p:cNvSpPr txBox="1"/>
          <p:nvPr/>
        </p:nvSpPr>
        <p:spPr>
          <a:xfrm xmlns:a="http://schemas.openxmlformats.org/drawingml/2006/main">
            <a:off x="7920000" y="1728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Glass bin — keep clear of ceramics</a:t>
            </a:r>
          </a:p>
        </p:txBody>
      </p:sp>
      <p:sp>
        <p:nvSpPr>
          <p:cNvPr id="100064" name="TextBox 14"/>
          <p:cNvSpPr txBox="1"/>
          <p:nvPr/>
        </p:nvSpPr>
        <p:spPr>
          <a:xfrm xmlns:a="http://schemas.openxmlformats.org/drawingml/2006/main">
            <a:off x="720000" y="2034000"/>
            <a:ext cx="1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Metal</a:t>
            </a:r>
          </a:p>
        </p:txBody>
      </p:sp>
      <p:sp>
        <p:nvSpPr>
          <p:cNvPr id="100065" name="TextBox 15"/>
          <p:cNvSpPr txBox="1"/>
          <p:nvPr/>
        </p:nvSpPr>
        <p:spPr>
          <a:xfrm xmlns:a="http://schemas.openxmlformats.org/drawingml/2006/main">
            <a:off x="2700000" y="2034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metal, can, tin, aluminium, steel, foil</a:t>
            </a:r>
          </a:p>
        </p:txBody>
      </p:sp>
      <p:sp>
        <p:nvSpPr>
          <p:cNvPr id="100066" name="TextBox 16"/>
          <p:cNvSpPr txBox="1"/>
          <p:nvPr/>
        </p:nvSpPr>
        <p:spPr>
          <a:xfrm xmlns:a="http://schemas.openxmlformats.org/drawingml/2006/main">
            <a:off x="6120000" y="2034000"/>
            <a:ext cx="16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E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90EE90"/>
                </a:solidFill>
              </a:rPr>
              <a:t>Yes</a:t>
            </a:r>
          </a:p>
        </p:txBody>
      </p:sp>
      <p:sp>
        <p:nvSpPr>
          <p:cNvPr id="100067" name="TextBox 17"/>
          <p:cNvSpPr txBox="1"/>
          <p:nvPr/>
        </p:nvSpPr>
        <p:spPr>
          <a:xfrm xmlns:a="http://schemas.openxmlformats.org/drawingml/2006/main">
            <a:off x="7920000" y="2034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Crush cans, recycle bin or scrap dealer</a:t>
            </a:r>
          </a:p>
        </p:txBody>
      </p:sp>
      <p:sp>
        <p:nvSpPr>
          <p:cNvPr id="100068" name="TextBox 18"/>
          <p:cNvSpPr txBox="1"/>
          <p:nvPr/>
        </p:nvSpPr>
        <p:spPr>
          <a:xfrm xmlns:a="http://schemas.openxmlformats.org/drawingml/2006/main">
            <a:off x="720000" y="2340000"/>
            <a:ext cx="1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Paper</a:t>
            </a:r>
          </a:p>
        </p:txBody>
      </p:sp>
      <p:sp>
        <p:nvSpPr>
          <p:cNvPr id="100069" name="TextBox 19"/>
          <p:cNvSpPr txBox="1"/>
          <p:nvPr/>
        </p:nvSpPr>
        <p:spPr>
          <a:xfrm xmlns:a="http://schemas.openxmlformats.org/drawingml/2006/main">
            <a:off x="2700000" y="2340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paper, cardboard, newspaper, magazine</a:t>
            </a:r>
          </a:p>
        </p:txBody>
      </p:sp>
      <p:sp>
        <p:nvSpPr>
          <p:cNvPr id="100070" name="TextBox 20"/>
          <p:cNvSpPr txBox="1"/>
          <p:nvPr/>
        </p:nvSpPr>
        <p:spPr>
          <a:xfrm xmlns:a="http://schemas.openxmlformats.org/drawingml/2006/main">
            <a:off x="6120000" y="2340000"/>
            <a:ext cx="16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E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90EE90"/>
                </a:solidFill>
              </a:rPr>
              <a:t>Yes (if clean)</a:t>
            </a:r>
          </a:p>
        </p:txBody>
      </p:sp>
      <p:sp>
        <p:nvSpPr>
          <p:cNvPr id="100071" name="TextBox 21"/>
          <p:cNvSpPr txBox="1"/>
          <p:nvPr/>
        </p:nvSpPr>
        <p:spPr>
          <a:xfrm xmlns:a="http://schemas.openxmlformats.org/drawingml/2006/main">
            <a:off x="7920000" y="2340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Keep dry, flatten boxes, no grease</a:t>
            </a:r>
          </a:p>
        </p:txBody>
      </p:sp>
      <p:sp>
        <p:nvSpPr>
          <p:cNvPr id="100072" name="TextBox 22"/>
          <p:cNvSpPr txBox="1"/>
          <p:nvPr/>
        </p:nvSpPr>
        <p:spPr>
          <a:xfrm xmlns:a="http://schemas.openxmlformats.org/drawingml/2006/main">
            <a:off x="720000" y="2646000"/>
            <a:ext cx="1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E-Waste</a:t>
            </a:r>
          </a:p>
        </p:txBody>
      </p:sp>
      <p:sp>
        <p:nvSpPr>
          <p:cNvPr id="100073" name="TextBox 23"/>
          <p:cNvSpPr txBox="1"/>
          <p:nvPr/>
        </p:nvSpPr>
        <p:spPr>
          <a:xfrm xmlns:a="http://schemas.openxmlformats.org/drawingml/2006/main">
            <a:off x="2700000" y="2646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electronic, phone, computer, circuit, cable</a:t>
            </a:r>
          </a:p>
        </p:txBody>
      </p:sp>
      <p:sp>
        <p:nvSpPr>
          <p:cNvPr id="100074" name="TextBox 24"/>
          <p:cNvSpPr txBox="1"/>
          <p:nvPr/>
        </p:nvSpPr>
        <p:spPr>
          <a:xfrm xmlns:a="http://schemas.openxmlformats.org/drawingml/2006/main">
            <a:off x="6120000" y="2646000"/>
            <a:ext cx="16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A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FFD700"/>
                </a:solidFill>
              </a:rPr>
              <a:t>Specialist only</a:t>
            </a:r>
          </a:p>
        </p:txBody>
      </p:sp>
      <p:sp>
        <p:nvSpPr>
          <p:cNvPr id="100075" name="TextBox 25"/>
          <p:cNvSpPr txBox="1"/>
          <p:nvPr/>
        </p:nvSpPr>
        <p:spPr>
          <a:xfrm xmlns:a="http://schemas.openxmlformats.org/drawingml/2006/main">
            <a:off x="7920000" y="2646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Certified e-waste facility — never landfill</a:t>
            </a:r>
          </a:p>
        </p:txBody>
      </p:sp>
      <p:sp>
        <p:nvSpPr>
          <p:cNvPr id="100076" name="TextBox 26"/>
          <p:cNvSpPr txBox="1"/>
          <p:nvPr/>
        </p:nvSpPr>
        <p:spPr>
          <a:xfrm xmlns:a="http://schemas.openxmlformats.org/drawingml/2006/main">
            <a:off x="720000" y="2952000"/>
            <a:ext cx="1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Battery</a:t>
            </a:r>
          </a:p>
        </p:txBody>
      </p:sp>
      <p:sp>
        <p:nvSpPr>
          <p:cNvPr id="100077" name="TextBox 27"/>
          <p:cNvSpPr txBox="1"/>
          <p:nvPr/>
        </p:nvSpPr>
        <p:spPr>
          <a:xfrm xmlns:a="http://schemas.openxmlformats.org/drawingml/2006/main">
            <a:off x="2700000" y="2952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battery, cell, lithium, alkaline</a:t>
            </a:r>
          </a:p>
        </p:txBody>
      </p:sp>
      <p:sp>
        <p:nvSpPr>
          <p:cNvPr id="100078" name="TextBox 28"/>
          <p:cNvSpPr txBox="1"/>
          <p:nvPr/>
        </p:nvSpPr>
        <p:spPr>
          <a:xfrm xmlns:a="http://schemas.openxmlformats.org/drawingml/2006/main">
            <a:off x="6120000" y="2952000"/>
            <a:ext cx="16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0A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FF6B6B"/>
                </a:solidFill>
              </a:rPr>
              <a:t>Hazardous</a:t>
            </a:r>
          </a:p>
        </p:txBody>
      </p:sp>
      <p:sp>
        <p:nvSpPr>
          <p:cNvPr id="100079" name="TextBox 29"/>
          <p:cNvSpPr txBox="1"/>
          <p:nvPr/>
        </p:nvSpPr>
        <p:spPr>
          <a:xfrm xmlns:a="http://schemas.openxmlformats.org/drawingml/2006/main">
            <a:off x="7920000" y="2952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Designated drop-off — fire risk if damaged</a:t>
            </a:r>
          </a:p>
        </p:txBody>
      </p:sp>
      <p:sp>
        <p:nvSpPr>
          <p:cNvPr id="100080" name="TextBox 30"/>
          <p:cNvSpPr txBox="1"/>
          <p:nvPr/>
        </p:nvSpPr>
        <p:spPr>
          <a:xfrm xmlns:a="http://schemas.openxmlformats.org/drawingml/2006/main">
            <a:off x="720000" y="3258000"/>
            <a:ext cx="1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Food</a:t>
            </a:r>
          </a:p>
        </p:txBody>
      </p:sp>
      <p:sp>
        <p:nvSpPr>
          <p:cNvPr id="100081" name="TextBox 31"/>
          <p:cNvSpPr txBox="1"/>
          <p:nvPr/>
        </p:nvSpPr>
        <p:spPr>
          <a:xfrm xmlns:a="http://schemas.openxmlformats.org/drawingml/2006/main">
            <a:off x="2700000" y="3258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food, organic, vegetable, fruit, peel</a:t>
            </a:r>
          </a:p>
        </p:txBody>
      </p:sp>
      <p:sp>
        <p:nvSpPr>
          <p:cNvPr id="100082" name="TextBox 32"/>
          <p:cNvSpPr txBox="1"/>
          <p:nvPr/>
        </p:nvSpPr>
        <p:spPr>
          <a:xfrm xmlns:a="http://schemas.openxmlformats.org/drawingml/2006/main">
            <a:off x="6120000" y="3258000"/>
            <a:ext cx="16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E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90EE90"/>
                </a:solidFill>
              </a:rPr>
              <a:t>Compostable</a:t>
            </a:r>
          </a:p>
        </p:txBody>
      </p:sp>
      <p:sp>
        <p:nvSpPr>
          <p:cNvPr id="100083" name="TextBox 33"/>
          <p:cNvSpPr txBox="1"/>
          <p:nvPr/>
        </p:nvSpPr>
        <p:spPr>
          <a:xfrm xmlns:a="http://schemas.openxmlformats.org/drawingml/2006/main">
            <a:off x="7920000" y="3258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Home compost or green bin</a:t>
            </a:r>
          </a:p>
        </p:txBody>
      </p:sp>
      <p:sp>
        <p:nvSpPr>
          <p:cNvPr id="100084" name="TextBox 34"/>
          <p:cNvSpPr txBox="1"/>
          <p:nvPr/>
        </p:nvSpPr>
        <p:spPr>
          <a:xfrm xmlns:a="http://schemas.openxmlformats.org/drawingml/2006/main">
            <a:off x="720000" y="3564000"/>
            <a:ext cx="1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Textile</a:t>
            </a:r>
          </a:p>
        </p:txBody>
      </p:sp>
      <p:sp>
        <p:nvSpPr>
          <p:cNvPr id="100085" name="TextBox 35"/>
          <p:cNvSpPr txBox="1"/>
          <p:nvPr/>
        </p:nvSpPr>
        <p:spPr>
          <a:xfrm xmlns:a="http://schemas.openxmlformats.org/drawingml/2006/main">
            <a:off x="2700000" y="3564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clothing, fabric, textile, cotton, wool</a:t>
            </a:r>
          </a:p>
        </p:txBody>
      </p:sp>
      <p:sp>
        <p:nvSpPr>
          <p:cNvPr id="100086" name="TextBox 36"/>
          <p:cNvSpPr txBox="1"/>
          <p:nvPr/>
        </p:nvSpPr>
        <p:spPr>
          <a:xfrm xmlns:a="http://schemas.openxmlformats.org/drawingml/2006/main">
            <a:off x="6120000" y="3564000"/>
            <a:ext cx="16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87CEEB"/>
                </a:solidFill>
              </a:rPr>
              <a:t>Donate / Recycle</a:t>
            </a:r>
          </a:p>
        </p:txBody>
      </p:sp>
      <p:sp>
        <p:nvSpPr>
          <p:cNvPr id="100087" name="TextBox 37"/>
          <p:cNvSpPr txBox="1"/>
          <p:nvPr/>
        </p:nvSpPr>
        <p:spPr>
          <a:xfrm xmlns:a="http://schemas.openxmlformats.org/drawingml/2006/main">
            <a:off x="7920000" y="3564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Charity, textile bank, or upcycle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 txBox="1"/>
          <p:nvPr/>
        </p:nvSpPr>
        <p:spPr>
          <a:xfrm xmlns:a="http://schemas.openxmlformats.org/drawingml/2006/main">
            <a:off x="720000" y="288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Result Tabs — What the User Sees</a:t>
            </a:r>
          </a:p>
        </p:txBody>
      </p:sp>
      <p:sp>
        <p:nvSpPr>
          <p:cNvPr id="100089" name="TextBox 2"/>
          <p:cNvSpPr txBox="1"/>
          <p:nvPr/>
        </p:nvSpPr>
        <p:spPr>
          <a:xfrm xmlns:a="http://schemas.openxmlformats.org/drawingml/2006/main">
            <a:off x="720000" y="1080000"/>
            <a:ext cx="198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Tab 1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Material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What the item is made of — plastic type, metal grade, paper fibre, fabric content. Helps users understand exactly what they're dealing with.</a:t>
            </a:r>
          </a:p>
        </p:txBody>
      </p:sp>
      <p:sp>
        <p:nvSpPr>
          <p:cNvPr id="100090" name="TextBox 3"/>
          <p:cNvSpPr txBox="1"/>
          <p:nvPr/>
        </p:nvSpPr>
        <p:spPr>
          <a:xfrm xmlns:a="http://schemas.openxmlformats.org/drawingml/2006/main">
            <a:off x="2880000" y="1080000"/>
            <a:ext cx="198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Tab 2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Recyclability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Can it be recycled? Which bin? Which facility? Includes resin codes and prep steps — rinsing, flattening, dismantling.</a:t>
            </a:r>
          </a:p>
        </p:txBody>
      </p:sp>
      <p:sp>
        <p:nvSpPr>
          <p:cNvPr id="100091" name="TextBox 4"/>
          <p:cNvSpPr txBox="1"/>
          <p:nvPr/>
        </p:nvSpPr>
        <p:spPr>
          <a:xfrm xmlns:a="http://schemas.openxmlformats.org/drawingml/2006/main">
            <a:off x="5040000" y="1080000"/>
            <a:ext cx="198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Tab 3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Reuse Ideas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Creative second-life suggestions before disposal. Glass jars → storage. Cardboard → packaging. T-shirts → cleaning cloths.</a:t>
            </a:r>
          </a:p>
        </p:txBody>
      </p:sp>
      <p:sp>
        <p:nvSpPr>
          <p:cNvPr id="100092" name="TextBox 5"/>
          <p:cNvSpPr txBox="1"/>
          <p:nvPr/>
        </p:nvSpPr>
        <p:spPr>
          <a:xfrm xmlns:a="http://schemas.openxmlformats.org/drawingml/2006/main">
            <a:off x="7200000" y="1080000"/>
            <a:ext cx="198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Tab 4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Disposal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Step-by-step disposal: which bin, which facility, prep required. Item-specific — not generic advice. Covers council, charity and specialist routes.</a:t>
            </a:r>
          </a:p>
        </p:txBody>
      </p:sp>
      <p:sp>
        <p:nvSpPr>
          <p:cNvPr id="100093" name="TextBox 6"/>
          <p:cNvSpPr txBox="1"/>
          <p:nvPr/>
        </p:nvSpPr>
        <p:spPr>
          <a:xfrm xmlns:a="http://schemas.openxmlformats.org/drawingml/2006/main">
            <a:off x="9360000" y="1080000"/>
            <a:ext cx="18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Tab 5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Warnings</a:t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pPr algn="ctr"/>
            <a:r>
              <a:rPr lang="en-US">
                <a:solidFill>
                  <a:srgbClr val="CCCCCC"/>
                </a:solidFill>
              </a:rPr>
              <a:t>Safety and environmental hazards. Batteries — fire risk. E-waste — toxic metals. Certain plastics — leaching chemicals. Enables safe decisions.</a:t>
            </a:r>
          </a:p>
        </p:txBody>
      </p:sp>
      <p:sp>
        <p:nvSpPr>
          <p:cNvPr id="100094" name="TextBox 7"/>
          <p:cNvSpPr txBox="1"/>
          <p:nvPr/>
        </p:nvSpPr>
        <p:spPr>
          <a:xfrm xmlns:a="http://schemas.openxmlformats.org/drawingml/2006/main">
            <a:off x="720000" y="3420000"/>
            <a:ext cx="104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i="1">
                <a:solidFill>
                  <a:srgbClr val="526170"/>
                </a:solidFill>
              </a:rPr>
              <a:t>Each tab maps directly to one JSON field returned by ai_analyzer.py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095" name="TextBox 1"/>
          <p:cNvSpPr txBox="1"/>
          <p:nvPr/>
        </p:nvSpPr>
        <p:spPr>
          <a:xfrm xmlns:a="http://schemas.openxmlformats.org/drawingml/2006/main">
            <a:off x="720000" y="288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IBM Bob 2.0 — The IDE Behind WasteWise</a:t>
            </a:r>
          </a:p>
        </p:txBody>
      </p:sp>
      <p:sp>
        <p:nvSpPr>
          <p:cNvPr id="100096" name="TextBox 2"/>
          <p:cNvSpPr txBox="1"/>
          <p:nvPr/>
        </p:nvSpPr>
        <p:spPr>
          <a:xfrm xmlns:a="http://schemas.openxmlformats.org/drawingml/2006/main">
            <a:off x="720000" y="1008000"/>
            <a:ext cx="1044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i="1">
                <a:solidFill>
                  <a:srgbClr val="526170"/>
                </a:solidFill>
              </a:rPr>
              <a:t>Every line of code, every file, every fix in this project was written using IBM Bob 2.0. This is a genuine story of IBM technology accelerating real development.</a:t>
            </a:r>
          </a:p>
        </p:txBody>
      </p:sp>
      <p:sp>
        <p:nvSpPr>
          <p:cNvPr id="100097" name="TextBox 3"/>
          <p:cNvSpPr txBox="1"/>
          <p:nvPr/>
        </p:nvSpPr>
        <p:spPr>
          <a:xfrm xmlns:a="http://schemas.openxmlformats.org/drawingml/2006/main">
            <a:off x="720000" y="1620000"/>
            <a:ext cx="306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Code Generation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Bob generated the full ai_analyzer.py module from a single prompt — base64 encoding, Ollama streaming, keyword scoring, and all 8 waste category profiles.</a:t>
            </a:r>
          </a:p>
        </p:txBody>
      </p:sp>
      <p:sp>
        <p:nvSpPr>
          <p:cNvPr id="100098" name="TextBox 4"/>
          <p:cNvSpPr txBox="1"/>
          <p:nvPr/>
        </p:nvSpPr>
        <p:spPr>
          <a:xfrm xmlns:a="http://schemas.openxmlformats.org/drawingml/2006/main">
            <a:off x="4140000" y="1620000"/>
            <a:ext cx="306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Debugging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Bob diagnosed the 'Failed to fetch' timeout (60s HTTP drop), the showAnalysisResult() Promise bug, and pinpointed the 88% animation stall root cause.</a:t>
            </a:r>
          </a:p>
        </p:txBody>
      </p:sp>
      <p:sp>
        <p:nvSpPr>
          <p:cNvPr id="100099" name="TextBox 5"/>
          <p:cNvSpPr txBox="1"/>
          <p:nvPr/>
        </p:nvSpPr>
        <p:spPr>
          <a:xfrm xmlns:a="http://schemas.openxmlformats.org/drawingml/2006/main">
            <a:off x="7560000" y="1620000"/>
            <a:ext cx="36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Presentation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This deck was constructed by Bob using the office_edit tool — 13 slides built slide-by-slide in the same session as the app code.</a:t>
            </a:r>
          </a:p>
        </p:txBody>
      </p:sp>
      <p:sp>
        <p:nvSpPr>
          <p:cNvPr id="100100" name="TextBox 6"/>
          <p:cNvSpPr txBox="1"/>
          <p:nvPr/>
        </p:nvSpPr>
        <p:spPr>
          <a:xfrm xmlns:a="http://schemas.openxmlformats.org/drawingml/2006/main">
            <a:off x="720000" y="3420000"/>
            <a:ext cx="104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Bob wrote the app.  Bob debugged the app.  Bob built this deck.  Bob is the co-author.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101" name="TextBox 1"/>
          <p:cNvSpPr txBox="1"/>
          <p:nvPr/>
        </p:nvSpPr>
        <p:spPr>
          <a:xfrm xmlns:a="http://schemas.openxmlformats.org/drawingml/2006/main">
            <a:off x="720000" y="288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Key Features</a:t>
            </a:r>
          </a:p>
        </p:txBody>
      </p:sp>
      <p:sp>
        <p:nvSpPr>
          <p:cNvPr id="100102" name="TextBox 2"/>
          <p:cNvSpPr txBox="1"/>
          <p:nvPr/>
        </p:nvSpPr>
        <p:spPr>
          <a:xfrm xmlns:a="http://schemas.openxmlformats.org/drawingml/2006/main">
            <a:off x="720000" y="1080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Fully Local AI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Moondream runs on your machine via Ollama. No image leaves your device. No API key, no account, no cost per query.</a:t>
            </a:r>
          </a:p>
        </p:txBody>
      </p:sp>
      <p:sp>
        <p:nvSpPr>
          <p:cNvPr id="100103" name="TextBox 3"/>
          <p:cNvSpPr txBox="1"/>
          <p:nvPr/>
        </p:nvSpPr>
        <p:spPr>
          <a:xfrm xmlns:a="http://schemas.openxmlformats.org/drawingml/2006/main">
            <a:off x="4320000" y="1080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Vision Model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Moondream is a dedicated vision-language model — it literally sees the image. Results driven by actual visual content, not filename guessing.</a:t>
            </a:r>
          </a:p>
        </p:txBody>
      </p:sp>
      <p:sp>
        <p:nvSpPr>
          <p:cNvPr id="100104" name="TextBox 4"/>
          <p:cNvSpPr txBox="1"/>
          <p:nvPr/>
        </p:nvSpPr>
        <p:spPr>
          <a:xfrm xmlns:a="http://schemas.openxmlformats.org/drawingml/2006/main">
            <a:off x="7920000" y="1080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Streaming Inference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Ollama's streaming mode keeps the browser connection alive, preventing the 60-second HTTP timeout that would otherwise kill a slow CPU inference.</a:t>
            </a:r>
          </a:p>
        </p:txBody>
      </p:sp>
      <p:sp>
        <p:nvSpPr>
          <p:cNvPr id="100105" name="TextBox 5"/>
          <p:cNvSpPr txBox="1"/>
          <p:nvPr/>
        </p:nvSpPr>
        <p:spPr>
          <a:xfrm xmlns:a="http://schemas.openxmlformats.org/drawingml/2006/main">
            <a:off x="720000" y="2520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Two-Phase Animation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AI call starts the moment an image is selected. Animation holds at 88% until AI responds, then snaps to 100% — no wasted time.</a:t>
            </a:r>
          </a:p>
        </p:txBody>
      </p:sp>
      <p:sp>
        <p:nvSpPr>
          <p:cNvPr id="100106" name="TextBox 6"/>
          <p:cNvSpPr txBox="1"/>
          <p:nvPr/>
        </p:nvSpPr>
        <p:spPr>
          <a:xfrm xmlns:a="http://schemas.openxmlformats.org/drawingml/2006/main">
            <a:off x="4320000" y="2520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8 Waste Profiles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Keyword-scored matching across plastic, glass, metal, paper, e-waste, battery, food, textile — plus a neutral default that guarantees a result every time.</a:t>
            </a:r>
          </a:p>
        </p:txBody>
      </p:sp>
      <p:sp>
        <p:nvSpPr>
          <p:cNvPr id="100107" name="TextBox 7"/>
          <p:cNvSpPr txBox="1"/>
          <p:nvPr/>
        </p:nvSpPr>
        <p:spPr>
          <a:xfrm xmlns:a="http://schemas.openxmlformats.org/drawingml/2006/main">
            <a:off x="7920000" y="2520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Minimal Dependencies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/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Only Flask and Requests. No TensorFlow, PyTorch, or CUDA. Runs on any machine with Python 3 and Ollama — including low-spec hardware.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108" name="TextBox 1"/>
          <p:cNvSpPr txBox="1"/>
          <p:nvPr/>
        </p:nvSpPr>
        <p:spPr>
          <a:xfrm xmlns:a="http://schemas.openxmlformats.org/drawingml/2006/main">
            <a:off x="720000" y="288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Future Scope</a:t>
            </a:r>
          </a:p>
        </p:txBody>
      </p:sp>
      <p:sp>
        <p:nvSpPr>
          <p:cNvPr id="100109" name="TextBox 2"/>
          <p:cNvSpPr txBox="1"/>
          <p:nvPr/>
        </p:nvSpPr>
        <p:spPr>
          <a:xfrm xmlns:a="http://schemas.openxmlformats.org/drawingml/2006/main">
            <a:off x="720000" y="108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5070B"/>
                </a:solidFill>
              </a:rPr>
              <a:t>Near Term  (3–6 months)</a:t>
            </a:r>
          </a:p>
        </p:txBody>
      </p:sp>
      <p:sp>
        <p:nvSpPr>
          <p:cNvPr id="100110" name="TextBox 3"/>
          <p:cNvSpPr txBox="1"/>
          <p:nvPr/>
        </p:nvSpPr>
        <p:spPr>
          <a:xfrm xmlns:a="http://schemas.openxmlformats.org/drawingml/2006/main">
            <a:off x="720000" y="1404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Swap Moondream for LLaVA 7B when GPU is available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Add webcam capture alongside file upload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Barcode scanning — identify products by EAN code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Local history log — track items scanned this week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Multi-language output — same backend, translated tabs</a:t>
            </a:r>
          </a:p>
        </p:txBody>
      </p:sp>
      <p:sp>
        <p:nvSpPr>
          <p:cNvPr id="100111" name="TextBox 4"/>
          <p:cNvSpPr txBox="1"/>
          <p:nvPr/>
        </p:nvSpPr>
        <p:spPr>
          <a:xfrm xmlns:a="http://schemas.openxmlformats.org/drawingml/2006/main">
            <a:off x="6120000" y="108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5070B"/>
                </a:solidFill>
              </a:rPr>
              <a:t>Longer Term  (6–18 months)</a:t>
            </a:r>
          </a:p>
        </p:txBody>
      </p:sp>
      <p:sp>
        <p:nvSpPr>
          <p:cNvPr id="100112" name="TextBox 5"/>
          <p:cNvSpPr txBox="1"/>
          <p:nvPr/>
        </p:nvSpPr>
        <p:spPr>
          <a:xfrm xmlns:a="http://schemas.openxmlformats.org/drawingml/2006/main">
            <a:off x="6120000" y="1404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Mobile app (PWA or React Native) with on-device model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Council API — real-time bin day and facility data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Gamification — points for correct disposal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Fine-grained categories: plastics by resin code</a:t>
            </a:r>
          </a:p>
          <a:p xmlns:a="http://schemas.openxmlformats.org/drawingml/2006/main">
            <a:r>
              <a:rPr lang="en-US">
                <a:solidFill>
                  <a:srgbClr val="CCCCCC"/>
                </a:solidFill>
              </a:rPr>
              <a:t>• Carbon tracking — CO2 saved per item correctly disposed</a:t>
            </a:r>
          </a:p>
        </p:txBody>
      </p:sp>
      <p:sp>
        <p:nvSpPr>
          <p:cNvPr id="100113" name="TextBox 6"/>
          <p:cNvSpPr txBox="1"/>
          <p:nvPr/>
        </p:nvSpPr>
        <p:spPr>
          <a:xfrm xmlns:a="http://schemas.openxmlformats.org/drawingml/2006/main">
            <a:off x="720000" y="3060000"/>
            <a:ext cx="104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i="1">
                <a:solidFill>
                  <a:srgbClr val="526170"/>
                </a:solidFill>
              </a:rPr>
              <a:t>The architecture is already clean. Each future feature is an additive extension — not a rewrite.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/>
      <p:sp>
        <p:nvSpPr>
          <p:cNvPr id="100114" name="TextBox 1"/>
          <p:cNvSpPr txBox="1"/>
          <p:nvPr/>
        </p:nvSpPr>
        <p:spPr>
          <a:xfrm xmlns:a="http://schemas.openxmlformats.org/drawingml/2006/main">
            <a:off x="720000" y="72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CCCCCC"/>
                </a:solidFill>
              </a:rPr>
              <a:t>Thank You</a:t>
            </a:r>
          </a:p>
        </p:txBody>
      </p:sp>
      <p:sp>
        <p:nvSpPr>
          <p:cNvPr id="100115" name="TextBox 2"/>
          <p:cNvSpPr txBox="1"/>
          <p:nvPr/>
        </p:nvSpPr>
        <p:spPr>
          <a:xfrm xmlns:a="http://schemas.openxmlformats.org/drawingml/2006/main">
            <a:off x="720000" y="162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b="1">
                <a:solidFill>
                  <a:srgbClr val="00AAFF"/>
                </a:solidFill>
              </a:rPr>
              <a:t>♻ WasteWise</a:t>
            </a:r>
          </a:p>
        </p:txBody>
      </p:sp>
      <p:sp>
        <p:nvSpPr>
          <p:cNvPr id="100116" name="TextBox 3"/>
          <p:cNvSpPr txBox="1"/>
          <p:nvPr/>
        </p:nvSpPr>
        <p:spPr>
          <a:xfrm xmlns:a="http://schemas.openxmlformats.org/drawingml/2006/main">
            <a:off x="720000" y="2448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i="1">
                <a:solidFill>
                  <a:srgbClr val="526170"/>
                </a:solidFill>
              </a:rPr>
              <a:t>Waste in. Smart decisions out.</a:t>
            </a:r>
          </a:p>
        </p:txBody>
      </p:sp>
      <p:sp>
        <p:nvSpPr>
          <p:cNvPr id="100117" name="TextBox 4"/>
          <p:cNvSpPr txBox="1"/>
          <p:nvPr/>
        </p:nvSpPr>
        <p:spPr>
          <a:xfrm xmlns:a="http://schemas.openxmlformats.org/drawingml/2006/main">
            <a:off x="720000" y="3060000"/>
            <a:ext cx="104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526170"/>
                </a:solidFill>
              </a:rPr>
              <a:t>Built end-to-end with IBM Bob 2.0  |  Powered by Ollama + Moondream  |  IBM Bob 2.0 Hackathon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2026-09-26T18:48:39Z</dcterms:created>
  <cp:lastModifiedBy>OfficeCLI</cp:lastModifiedBy>
  <dcterms:modified xsi:type="dcterms:W3CDTF">2026-09-26T18:48:39Z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2026-09-26T19:02:58Z</vt:lpwstr>
  </op:property>
</op:Properties>
</file>